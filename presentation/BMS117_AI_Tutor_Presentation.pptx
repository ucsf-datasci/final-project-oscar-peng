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114" d="100"/>
          <a:sy n="114" d="100"/>
        </p:scale>
        <p:origin x="544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3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1147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9339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5790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966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4090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3619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1847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8076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7177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6771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7257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41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18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BMS 117 AI Tutor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study tool for dental microbiology &amp; immunology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DATASCI 223 Final Project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Peng  •  UCSF  •  Winter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64008" cy="31089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challenges in BMS 117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Dense lectures spanning microbiology, immunology, and clinical topics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Challenging exam questions mapping to specific learning objectives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Slide-based content with diagrams that are hard to search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No interactive study tool grounded in actual lecture materials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64008" cy="3108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could build a tutor that...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Answers questions using actual lecture content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Cites specific lecture slides as 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Explains practice exam answers with reasoning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Generates new practice questions for study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98448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46304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grounds LLM answers in real documents, reducing hallucinations (Lewis et al., 2020)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8716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63040" y="2697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 provides tool use, structured output, and MCP integration for building agentic systems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5661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7588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520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463040" y="3886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chroma-mcp enables semantic search over document collections via the Model Context Protocol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" y="45218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ea typeface="Calibri" pitchFamily="34" charset="-122"/>
                <a:cs typeface="Calibri" pitchFamily="34" charset="-120"/>
              </a:rPr>
              <a:t>References:</a:t>
            </a:r>
            <a:br>
              <a:rPr lang="en-US" sz="800" i="1" dirty="0">
                <a:ea typeface="Calibri" pitchFamily="34" charset="-122"/>
                <a:cs typeface="Calibri" pitchFamily="34" charset="-120"/>
              </a:rPr>
            </a:br>
            <a:r>
              <a:rPr lang="en-US" sz="800" i="1" dirty="0">
                <a:ea typeface="Calibri" pitchFamily="34" charset="-122"/>
                <a:cs typeface="Calibri" pitchFamily="34" charset="-120"/>
              </a:rPr>
              <a:t>DATASCI 223 Lecture 08 — LLM Applications &amp; Workflows</a:t>
            </a:r>
          </a:p>
          <a:p>
            <a:r>
              <a:rPr lang="en-US" sz="800" dirty="0"/>
              <a:t>Lewis, P., Perez, E., </a:t>
            </a:r>
            <a:r>
              <a:rPr lang="en-US" sz="800" dirty="0" err="1"/>
              <a:t>Piktus</a:t>
            </a:r>
            <a:r>
              <a:rPr lang="en-US" sz="800" dirty="0"/>
              <a:t>, A., Petroni, F., </a:t>
            </a:r>
            <a:r>
              <a:rPr lang="en-US" sz="800" dirty="0" err="1"/>
              <a:t>Karpukhin</a:t>
            </a:r>
            <a:r>
              <a:rPr lang="en-US" sz="800" dirty="0"/>
              <a:t>, V., Goyal, N., ... &amp; Kiela, D. (2020). Retrieval-augmented generation for knowledge-intensive </a:t>
            </a:r>
            <a:r>
              <a:rPr lang="en-US" sz="800" dirty="0" err="1"/>
              <a:t>nlp</a:t>
            </a:r>
            <a:r>
              <a:rPr lang="en-US" sz="800" dirty="0"/>
              <a:t> tasks. </a:t>
            </a:r>
            <a:r>
              <a:rPr lang="en-US" sz="800" i="1" dirty="0"/>
              <a:t>Advances in neural information processing systems</a:t>
            </a:r>
            <a:r>
              <a:rPr lang="en-US" sz="800" dirty="0"/>
              <a:t>, </a:t>
            </a:r>
            <a:r>
              <a:rPr lang="en-US" sz="800" i="1" dirty="0"/>
              <a:t>33</a:t>
            </a:r>
            <a:r>
              <a:rPr lang="en-US" sz="800" dirty="0"/>
              <a:t>, 9459-9474.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contribution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course-taught RAG and agent patterns to build a domain-specific tutoring system for dental education, with a built-in evaluation against a 51-question exam.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6032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parsing of 14 lecture PDFs with slide-aware 2-page chunking + metadata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0" y="2011680"/>
            <a:ext cx="25603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tutor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 agent (Q&amp;A, exam explainer, quiz gen) using Agents SDK + chroma-mcp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2011680"/>
            <a:ext cx="256032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922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comparison of RAG vs base LLM across all 51 practice exam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430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2344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143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lecture PDFs + exam + objectives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618488" y="1645920"/>
            <a:ext cx="0" cy="27432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371600" y="1920240"/>
            <a:ext cx="502920" cy="502920"/>
          </a:xfrm>
          <a:prstGeom prst="ellipse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20116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03120" y="1920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→ 2-page chunking → metadata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618488" y="2423160"/>
            <a:ext cx="0" cy="27432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371600" y="2697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27889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03120" y="26974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(chroma-mcp)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1618488" y="3200400"/>
            <a:ext cx="0" cy="27432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1371600" y="34747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35661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03120" y="3474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tutor agent (OpenAI Agents SDK)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1618488" y="3977640"/>
            <a:ext cx="0" cy="27432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1371600" y="4251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" y="434340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103120" y="4251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|  Exam explainer  |  Quiz generator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6217920" y="3474720"/>
            <a:ext cx="2468880" cy="1097280"/>
          </a:xfrm>
          <a:prstGeom prst="rect">
            <a:avLst/>
          </a:prstGeom>
          <a:solidFill>
            <a:srgbClr val="E0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640080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from Lecture 08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SDK, ChromaDB, chroma-mcp, sentence-transformers, OpenRouter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71525" y="1475449"/>
            <a:ext cx="1971675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Tools and methods</a:t>
            </a:r>
            <a:endParaRPr lang="en-US" sz="2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205925"/>
              </p:ext>
            </p:extLst>
          </p:nvPr>
        </p:nvGraphicFramePr>
        <p:xfrm>
          <a:off x="3582987" y="778947"/>
          <a:ext cx="5085526" cy="3583864"/>
        </p:xfrm>
        <a:graphic>
          <a:graphicData uri="http://schemas.openxmlformats.org/drawingml/2006/table">
            <a:tbl>
              <a:tblPr firstRow="1" bandRow="1"/>
              <a:tblGrid>
                <a:gridCol w="113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6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backend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nemotron-3-super-120b-a12b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via </a:t>
                      </a:r>
                      <a:r>
                        <a:rPr lang="en-US" sz="1200" err="1">
                          <a:solidFill>
                            <a:srgbClr val="1A233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OpenRouter</a:t>
                      </a:r>
                      <a:endParaRPr lang="en-US" sz="120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answers, quiz questions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framework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use, MCP integration, routing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(chroma-mcp)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search over lecture chunks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text to vector representations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parsing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 (fitz)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text from lecture slides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(matplotlib)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metrics, visualizations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4395" marR="94395" marT="47197" marB="47197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PDFs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~175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463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18872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494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questions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basics  •  Immune system  •  T cells  •  Humoral immunity  •  Antibody effectors  •  Staph &amp; Strep  •  Hypersensitivity  •  Tolerance &amp; autoimmunity  •  Immunodeficiency  •  Pathogenesis  •  Bacterial genetics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exam question maps to a correct answer + learning objective (our gold standard for evaluation)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output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What are the mechanisms of horizontal gene transfer?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The three primary mechanisms of horizontal gene transfer 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bacteria are transformation, transduction, and conjugation.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Transformation — uptake of naked DNA from the environment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Transduction — transfer of DNA via bacteriophages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Conjugation — direct transfer through a pilus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[Source: Bacterial_Genetics, pages 5-6]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[Source: Bacterial_Genetics, pages 7-8]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practice exam questions  •  RAG tutor vs base LLM (no retrieval)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LLM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0" y="1554480"/>
            <a:ext cx="5212080" cy="457200"/>
          </a:xfrm>
          <a:prstGeom prst="rect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1554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(19/20)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Tutor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2286000"/>
            <a:ext cx="13716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(5/20)*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863840" cy="2011680"/>
          </a:xfrm>
          <a:prstGeom prst="rect">
            <a:avLst/>
          </a:prstGeom>
          <a:solidFill>
            <a:srgbClr val="E0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result is misleading: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15 of 20 RAG answers unparseable — rich cited explanations bury the answer letter past the 200-char extraction window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Base LLM scores high because the model already knows general immunology — but cannot cite course-specific sources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Qualitative evidence (Notebook 02) shows RAG gives superior answers with lecture citations and learning objectives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Fix: use structured output (Pydantic) instead of regex extraction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Issues overcome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40080" y="1610751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74759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51931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Slide-format PDFs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80160" y="1839351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have ~300 chars/page — too sparse for standard chunking. Used 2-page grouping to create meaningful retrieval units.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2570871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3487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47943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parsing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80160" y="2799471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for correct answers was fragile. Used positional approach: find all option markers, locate CORRECT, select last option before it.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530991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94999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43955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model rate limits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80160" y="3759591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API had strict rate limits. Added retry logic with exponential backoff to complete the 102-call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6400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No image/diagram understanding — lecture visuals are skipped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Free Nemotron model has lower quality and rate limits vs gpt-4o-mini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Answer extraction regex is brittle for verbose responses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No web UI — notebook-only interface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Multimodal support: add image captioning for lecture diagrams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Deploy as UCSF ChatGPT Enterprise Custom GPT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Adaptive tutoring: track weak topics and recommend review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Extend to Exam 2 and full BMS 117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tutoring provides richer, cited answers grounded in course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— the key advantage over general-purpose LLMs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F2E962B-7078-B8B3-F892-128A73BCADEA}"/>
              </a:ext>
            </a:extLst>
          </p:cNvPr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DATASCI 223 Final Project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46B509F-44A2-F1D2-9B94-FFB6E212D137}"/>
              </a:ext>
            </a:extLst>
          </p:cNvPr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Peng  •  UCSF  •  Winter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</TotalTime>
  <Words>863</Words>
  <Application>Microsoft Macintosh PowerPoint</Application>
  <PresentationFormat>On-screen Show (16:9)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Georgia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BMS 117 AI Tutor — DATASCI 223 Final Project</dc:title>
  <dc:subject>PptxGenJS Presentation</dc:subject>
  <dc:creator>Oscar Peng</dc:creator>
  <cp:lastModifiedBy>Peng, Oscar</cp:lastModifiedBy>
  <cp:revision>3</cp:revision>
  <dcterms:created xsi:type="dcterms:W3CDTF">2026-03-20T00:38:25Z</dcterms:created>
  <dcterms:modified xsi:type="dcterms:W3CDTF">2026-03-20T01:05:50Z</dcterms:modified>
</cp:coreProperties>
</file>